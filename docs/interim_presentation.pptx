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Agent-Augmented Visual Analytics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Semiconductor Wafer Polishing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696D Visual Analytics  —  Interim Presentation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13716"/>
          </a:xfrm>
          <a:prstGeom prst="rect">
            <a:avLst/>
          </a:prstGeom>
          <a:solidFill>
            <a:srgbClr val="3A4F7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Garegin Mazmanyan    Taoseef Aziz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Arizona, Tucson  |  Spring 2026</a:t>
            </a:r>
            <a:endParaRPr lang="en-US" sz="1200" dirty="0"/>
          </a:p>
        </p:txBody>
      </p:sp>
      <p:pic>
        <p:nvPicPr>
          <p:cNvPr id="8" name="Image 0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234B"/>
                </a:solidFill>
              </a:rPr>
              <a:t>Chemical Mechanical Planarization (CMP)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2E"/>
                </a:solidFill>
              </a:rPr>
              <a:t>Critical step in semiconductor manufacturing — sensors capture force, temperature, and pressure data during wafer polishing.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AB0520"/>
                </a:solidFill>
              </a:rPr>
              <a:t>The Challenge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2E"/>
                </a:solidFill>
              </a:rPr>
              <a:t>Process engineers are domain experts, not data scientists. They must manually select ML models, tune hyperparameters, and interpret diagnostic plots.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0C234B"/>
                </a:solidFill>
              </a:rPr>
              <a:t>Our Solution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An AI agent that combines AutoML with a natural language chat interface — running entirely offline via a local LLM.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09728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0" y="11155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B0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~1000 Hz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85216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sampling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42316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24414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59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15–80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521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Polishing runs per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749040"/>
            <a:ext cx="28346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Offline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852160" y="4315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fab compatible</a:t>
            </a:r>
            <a:endParaRPr lang="en-US" sz="1100" dirty="0"/>
          </a:p>
        </p:txBody>
      </p:sp>
      <p:pic>
        <p:nvPicPr>
          <p:cNvPr id="14" name="Image 0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AB0520"/>
          </a:solidFill>
          <a:ln/>
        </p:spPr>
      </p:sp>
      <p:pic>
        <p:nvPicPr>
          <p:cNvPr id="4" name="Image 0" descr="/home/garegin/Documents/Projects/csc696/csc696D_final_project/docs/screenshots/arch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8046720" cy="2244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799032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 the Dash chat interface. Messages route through callbacks to the 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AgentEngine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orchestrates conversations with 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(Qwen 3.5)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Tool calls dispatch to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DataManager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AutoMLManager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chart generation. Results stream back to the UI incrementally.</a:t>
            </a:r>
            <a:endParaRPr lang="en-US" sz="1200" dirty="0"/>
          </a:p>
        </p:txBody>
      </p:sp>
      <p:pic>
        <p:nvPicPr>
          <p:cNvPr id="6" name="Image 1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Tool-Calling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AB0520"/>
          </a:solidFill>
          <a:ln/>
        </p:spPr>
      </p:sp>
      <p:pic>
        <p:nvPicPr>
          <p:cNvPr id="4" name="Image 0" descr="/home/garegin/Documents/Projects/csc696/csc696D_final_project/docs/screenshots/agent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18018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11700" y="1097280"/>
            <a:ext cx="3866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11700" y="1554480"/>
            <a:ext cx="38665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daemon thread to avoid blocking the Dash event loop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via Queue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StreamChunk objects (text, tool_start, tool_end, chart, done) pushed to a thread-safe Queue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8 tool-calling rounds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limit prevents infinite loops — terminates when LLM returns text-only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registered tools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queries, ML operations, and chart generation tools available each round</a:t>
            </a:r>
            <a:endParaRPr lang="en-US" sz="1100" dirty="0"/>
          </a:p>
        </p:txBody>
      </p:sp>
      <p:pic>
        <p:nvPicPr>
          <p:cNvPr id="7" name="Image 1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AB0520"/>
          </a:solidFill>
          <a:ln/>
        </p:spPr>
      </p:sp>
      <p:pic>
        <p:nvPicPr>
          <p:cNvPr id="4" name="Image 0" descr="/home/garegin/Documents/Projects/csc696/csc696D_final_project/docs/screenshots/streamin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2247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50645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runs in a daemon thread, pushes StreamChunk objects to a FIFO Queue. A 200ms Dash interval callback drains all chunks and routes them: text to chat bubbles, tool indicators to status pills, charts to canvas tabs, and prefill payloads to the prediction form.</a:t>
            </a:r>
            <a:endParaRPr lang="en-US" sz="1100" dirty="0"/>
          </a:p>
        </p:txBody>
      </p:sp>
      <p:pic>
        <p:nvPicPr>
          <p:cNvPr id="6" name="Image 1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Tools (13 Functions)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AB0520"/>
          </a:solidFill>
          <a:ln/>
        </p:spPr>
      </p:sp>
      <p:pic>
        <p:nvPicPr>
          <p:cNvPr id="4" name="Image 0" descr="/home/garegin/Documents/Projects/csc696/csc696D_final_project/docs/screenshots/tools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046720" cy="3634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1463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methods on the AgentTools class. Ollama auto-generates JSON schemas from Python type annotations. Chart tools return both a Plotly figure (routed to UI) and a text summary with exact numbers (given to the LLM so it cites real data).</a:t>
            </a:r>
            <a:endParaRPr lang="en-US" sz="1100" dirty="0"/>
          </a:p>
        </p:txBody>
      </p:sp>
      <p:pic>
        <p:nvPicPr>
          <p:cNvPr id="6" name="Image 1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" y="1051560"/>
            <a:ext cx="1828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4068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9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406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19756" y="1051560"/>
            <a:ext cx="1828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19756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B0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19756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Estimators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95444" y="1051560"/>
            <a:ext cx="1828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5444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95444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71132" y="1051560"/>
            <a:ext cx="1828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1132" y="1051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71132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Polishing Files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 Components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conversation loop with tool calling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engine (FLAML) with 9 estimators and nested cross-validation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chat with Markdown rendering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 generation tools (scatter, distribution, bar, heatmap, time-series, model diagnostics)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834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status indicators (running / done / failed pills)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pruning at ~48K chars for long conversations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form pre-filling from agent conversation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with tabbed chart history</a:t>
            </a:r>
            <a:endParaRPr lang="en-US" sz="1100" dirty="0"/>
          </a:p>
        </p:txBody>
      </p:sp>
      <p:pic>
        <p:nvPicPr>
          <p:cNvPr id="19" name="Image 0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Tasks &amp; Challenges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097280" cy="36576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Tasks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520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agent tools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exploration and comparison capabilities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existing tool arguments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parameter complexity with specific argument lists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study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with domain expert: task completion, accuracy, user confidence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report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architecture, results, and evaluation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final presentation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slide deck with live demo and evaluation results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B0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Unsolved Challenges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20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lifecycle management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Auto-start/stop Ollama server, health checks, graceful degradation when LLM is unavailable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argument complexity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sometimes struggles with tools that have many optional parameters — need to simplify schemas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fair comparison metrics for agent-assisted vs. manual analytics workflows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C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conversations with large tool results can exceed model context — pruning strategy needs refinement</a:t>
            </a:r>
            <a:endParaRPr lang="en-US" sz="1100" dirty="0"/>
          </a:p>
        </p:txBody>
      </p:sp>
      <p:pic>
        <p:nvPicPr>
          <p:cNvPr id="10" name="Image 0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Requests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960120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45720" cy="960120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64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13 tools the right granularity, or should we consolidate/split further?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657600" cy="960120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280160"/>
            <a:ext cx="45720" cy="960120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single-expert case study sufficient, or should we target multiple users?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657600" cy="960120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468880"/>
            <a:ext cx="45720" cy="960120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AutoML vs. manual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we fairly compare AutoML-selected models against manual baselines?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3657600" cy="960120"/>
          </a:xfrm>
          <a:prstGeom prst="rect">
            <a:avLst/>
          </a:prstGeom>
          <a:solidFill>
            <a:srgbClr val="162D50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468880"/>
            <a:ext cx="45720" cy="960120"/>
          </a:xfrm>
          <a:prstGeom prst="rect">
            <a:avLst/>
          </a:prstGeom>
          <a:solidFill>
            <a:srgbClr val="AB052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60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constraint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local-LLM-only approach satisfy the air-gapped requirement, or do we need fallback modes?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8899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600" dirty="0"/>
          </a:p>
        </p:txBody>
      </p:sp>
      <p:pic>
        <p:nvPicPr>
          <p:cNvPr id="21" name="Image 0" descr="/home/garegin/Documents/Projects/csc696/csc696D_final_project/ua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708785"/>
            <a:ext cx="1051560" cy="29755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47320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Agent-Augmented Visual Analytics — Interim Presentation</dc:title>
  <dc:subject>PptxGenJS Presentation</dc:subject>
  <dc:creator>Garegin Mazmanyan, Taoseef Aziz</dc:creator>
  <cp:lastModifiedBy>Garegin Mazmanyan, Taoseef Aziz</cp:lastModifiedBy>
  <cp:revision>1</cp:revision>
  <dcterms:created xsi:type="dcterms:W3CDTF">2026-04-09T01:50:12Z</dcterms:created>
  <dcterms:modified xsi:type="dcterms:W3CDTF">2026-04-09T01:50:12Z</dcterms:modified>
</cp:coreProperties>
</file>